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47548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3400" b="1">
                <a:solidFill>
                  <a:srgbClr val="0B0B0B"/>
                </a:solidFill>
                <a:latin typeface="Segoe UI"/>
              </a:rPr>
              <a:t>Enchente de 2024 e voto para presidente na Grande Porto Alegre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06908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700" b="0">
                <a:solidFill>
                  <a:srgbClr val="52514E"/>
                </a:solidFill>
                <a:latin typeface="Segoe UI"/>
              </a:rPr>
              <a:t>Locais de votação dentro e fora da área alagada, no 1º turno de 2022 e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2120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400" b="0">
                <a:solidFill>
                  <a:srgbClr val="52514E"/>
                </a:solidFill>
                <a:latin typeface="Segoe UI"/>
              </a:rPr>
              <a:t>Matheus Dalmolin · outubro de 2026</a:t>
            </a:r>
          </a:p>
        </p:txBody>
      </p:sp>
      <p:pic>
        <p:nvPicPr>
          <p:cNvPr id="5" name="Picture 4" descr="mapa_gru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575" y="914400"/>
            <a:ext cx="62179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ANTES DE COMEÇAR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O que foi comparado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Comparação descritiva: mostra onde o voto e o eleitorado mudaram diferente, não mede o efeito da enchente.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5836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600" b="1">
                <a:solidFill>
                  <a:srgbClr val="0B0B0B"/>
                </a:solidFill>
                <a:latin typeface="Segoe UI"/>
              </a:rPr>
              <a:t>Unidade: </a:t>
            </a:r>
            <a:r>
              <a:rPr sz="1600" b="0">
                <a:solidFill>
                  <a:srgbClr val="0B0B0B"/>
                </a:solidFill>
                <a:latin typeface="Segoe UI"/>
              </a:rPr>
              <a:t>o local de votação. São 1.252 locais em 42 municípios, inteiros ou em parte, num retângulo em volta da Grande Porto Alegre.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sz="1600" b="1">
                <a:solidFill>
                  <a:srgbClr val="0B0B0B"/>
                </a:solidFill>
                <a:latin typeface="Segoe UI"/>
              </a:rPr>
              <a:t>Área alagada: </a:t>
            </a:r>
            <a:r>
              <a:rPr sz="1600" b="0">
                <a:solidFill>
                  <a:srgbClr val="0B0B0B"/>
                </a:solidFill>
                <a:latin typeface="Segoe UI"/>
              </a:rPr>
              <a:t>mancha da UFRGS/IPH com as imagens de 6 e 8 de maio de 2024, sem a água que já existia. Um local conta como alagado quando o ponto dele fica dentro da mancha.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sz="1600" b="1">
                <a:solidFill>
                  <a:srgbClr val="0B0B0B"/>
                </a:solidFill>
                <a:latin typeface="Segoe UI"/>
              </a:rPr>
              <a:t>Voto: </a:t>
            </a:r>
            <a:r>
              <a:rPr sz="1600" b="0">
                <a:solidFill>
                  <a:srgbClr val="0B0B0B"/>
                </a:solidFill>
                <a:latin typeface="Segoe UI"/>
              </a:rPr>
              <a:t>votos válidos para presidente no 1º turno. Lula (PT) × Flávio Bolsonaro (PL) em 2026; Lula (PT) × Jair Bolsonaro (PL) em 2022.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sz="1600" b="1">
                <a:solidFill>
                  <a:srgbClr val="0B0B0B"/>
                </a:solidFill>
                <a:latin typeface="Segoe UI"/>
              </a:rPr>
              <a:t>2022 → 2026: </a:t>
            </a:r>
            <a:r>
              <a:rPr sz="1600" b="0">
                <a:solidFill>
                  <a:srgbClr val="0B0B0B"/>
                </a:solidFill>
                <a:latin typeface="Segoe UI"/>
              </a:rPr>
              <a:t>cada seção eleitoral é comparada com ela mesma nas duas eleições, no local onde votou em 2026.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sz="1600" b="1">
                <a:solidFill>
                  <a:srgbClr val="0B0B0B"/>
                </a:solidFill>
                <a:latin typeface="Segoe UI"/>
              </a:rPr>
              <a:t>Antes da enchente: </a:t>
            </a:r>
            <a:r>
              <a:rPr sz="1600" b="0">
                <a:solidFill>
                  <a:srgbClr val="0B0B0B"/>
                </a:solidFill>
                <a:latin typeface="Segoe UI"/>
              </a:rPr>
              <a:t>as mesmas seções em 2018, Fernando Haddad (PT) × Jair Bolsonaro (PSL).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508760"/>
            <a:ext cx="38404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52514E"/>
                </a:solidFill>
                <a:latin typeface="Segoe UI"/>
              </a:rPr>
              <a:t>Temas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800" b="0">
                <a:solidFill>
                  <a:srgbClr val="0B0B0B"/>
                </a:solidFill>
                <a:latin typeface="Segoe UI"/>
              </a:rPr>
              <a:t>1  Onde a água chegou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800" b="0">
                <a:solidFill>
                  <a:srgbClr val="0B0B0B"/>
                </a:solidFill>
                <a:latin typeface="Segoe UI"/>
              </a:rPr>
              <a:t>2  Voto em 2026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800" b="0">
                <a:solidFill>
                  <a:srgbClr val="0B0B0B"/>
                </a:solidFill>
                <a:latin typeface="Segoe UI"/>
              </a:rPr>
              <a:t>3  Mudança no voto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800" b="0">
                <a:solidFill>
                  <a:srgbClr val="0B0B0B"/>
                </a:solidFill>
                <a:latin typeface="Segoe UI"/>
              </a:rPr>
              <a:t>4  Eleitorado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800" b="0">
                <a:solidFill>
                  <a:srgbClr val="0B0B0B"/>
                </a:solidFill>
                <a:latin typeface="Segoe UI"/>
              </a:rPr>
              <a:t>5  Porto Alegre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788920"/>
            <a:ext cx="914400" cy="64008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8000" b="1">
                <a:solidFill>
                  <a:srgbClr val="0B0B0B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4000" b="1">
                <a:solidFill>
                  <a:srgbClr val="0B0B0B"/>
                </a:solidFill>
                <a:latin typeface="Segoe UI"/>
              </a:rPr>
              <a:t>Onde a água chegou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9144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800" b="0">
                <a:solidFill>
                  <a:srgbClr val="52514E"/>
                </a:solidFill>
                <a:latin typeface="Segoe UI"/>
              </a:rPr>
              <a:t>A área alagada em maio de 2024 e quais locais de votação ficaram dentro dela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ONDE A ÁGUA CHEGOU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A área diretamente afetada em maio de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Fontes: UFRGS/IPH, Banco de dados das cheias da RH do Guaíba v1.4 (CC BY 4.0); IBGE, Censo 2022; SEMA-RS, base cartográfica 1:25.000.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4</a:t>
            </a:r>
          </a:p>
        </p:txBody>
      </p:sp>
      <p:pic>
        <p:nvPicPr>
          <p:cNvPr id="6" name="Picture 5" descr="mapa_manc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575" y="1325880"/>
            <a:ext cx="6217920" cy="4983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463040"/>
            <a:ext cx="475488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600" b="1">
                <a:solidFill>
                  <a:srgbClr val="0B0B0B"/>
                </a:solidFill>
                <a:latin typeface="Segoe UI"/>
              </a:rPr>
              <a:t>559 mil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50" b="0">
                <a:solidFill>
                  <a:srgbClr val="52514E"/>
                </a:solidFill>
                <a:latin typeface="Segoe UI"/>
              </a:rPr>
              <a:t>moradores dentro da mancha (Censo 2022), de 3,9 milhões na área do mapa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4846320" cy="3611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Mancha da UFRGS/IPH com as imagens de satélite de 6 e 8 de maio de 2024. A água que já existia (Guaíba, rios e delta do Jacuí) não conta como alagada.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A imagem de satélite deixa passar a água entre prédios, como no Centro de Porto Alegre; por isso os números foram refeitos com outras manchas e com folga de 500 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ONDE A ÁGUA CHEGOU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Quais locais de votação contam como alagados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Fontes: TSE, locais de votação de 2026; UFRGS/IPH, área diretamente afetada em 6 e 8/5/2024; IBGE, Censo 2022.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5</a:t>
            </a:r>
          </a:p>
        </p:txBody>
      </p:sp>
      <p:pic>
        <p:nvPicPr>
          <p:cNvPr id="6" name="Picture 5" descr="mapa_gru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575" y="1325880"/>
            <a:ext cx="6217920" cy="4983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55064"/>
            <a:ext cx="182880" cy="182880"/>
          </a:xfrm>
          <a:prstGeom prst="ellipse">
            <a:avLst/>
          </a:prstGeom>
          <a:solidFill>
            <a:srgbClr val="0A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63040"/>
            <a:ext cx="4462272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600" b="1">
                <a:solidFill>
                  <a:srgbClr val="0B0B0B"/>
                </a:solidFill>
                <a:latin typeface="Segoe UI"/>
              </a:rPr>
              <a:t>153 locais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57400"/>
            <a:ext cx="44622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50" b="0">
                <a:solidFill>
                  <a:srgbClr val="52514E"/>
                </a:solidFill>
                <a:latin typeface="Segoe UI"/>
              </a:rPr>
              <a:t>de votação com o ponto dentro da área alagada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475488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600" b="1">
                <a:solidFill>
                  <a:srgbClr val="0B0B0B"/>
                </a:solidFill>
                <a:latin typeface="Segoe UI"/>
              </a:rPr>
              <a:t>376 mil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50" b="0">
                <a:solidFill>
                  <a:srgbClr val="52514E"/>
                </a:solidFill>
                <a:latin typeface="Segoe UI"/>
              </a:rPr>
              <a:t>eleitores votam neles, 12,4% do eleitorado da área do mapa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79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Nos locais alagados, 88,9% dos moradores do entorno estavam dentro da mancha; nos outros, 3,9%.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6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788920"/>
            <a:ext cx="914400" cy="64008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8000" b="1">
                <a:solidFill>
                  <a:srgbClr val="0B0B0B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4000" b="1">
                <a:solidFill>
                  <a:srgbClr val="0B0B0B"/>
                </a:solidFill>
                <a:latin typeface="Segoe UI"/>
              </a:rPr>
              <a:t>Voto em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9144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800" b="0">
                <a:solidFill>
                  <a:srgbClr val="52514E"/>
                </a:solidFill>
                <a:latin typeface="Segoe UI"/>
              </a:rPr>
              <a:t>Como votaram os locais alagados no 1º turno de 2026, comparados com o restante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VOTO EM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Voto em 2026 e área alagada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Fontes: TSE, 1º turno de 2026; UFRGS/IPH, área diretamente afetada em 6 e 8/5/2024.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7</a:t>
            </a:r>
          </a:p>
        </p:txBody>
      </p:sp>
      <p:pic>
        <p:nvPicPr>
          <p:cNvPr id="6" name="Picture 5" descr="mapa_voto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575" y="1325880"/>
            <a:ext cx="6217920" cy="4983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55064"/>
            <a:ext cx="182880" cy="182880"/>
          </a:xfrm>
          <a:prstGeom prst="ellipse">
            <a:avLst/>
          </a:prstGeom>
          <a:solidFill>
            <a:srgbClr val="0A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63040"/>
            <a:ext cx="4462272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600" b="1">
                <a:solidFill>
                  <a:srgbClr val="0B0B0B"/>
                </a:solidFill>
                <a:latin typeface="Segoe UI"/>
              </a:rPr>
              <a:t>42,0% × 48,7%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57400"/>
            <a:ext cx="44622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50" b="0">
                <a:solidFill>
                  <a:srgbClr val="52514E"/>
                </a:solidFill>
                <a:latin typeface="Segoe UI"/>
              </a:rPr>
              <a:t>Lula × Flávio Bolsonaro nos locais alagados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98064"/>
            <a:ext cx="182880" cy="182880"/>
          </a:xfrm>
          <a:prstGeom prst="ellipse">
            <a:avLst/>
          </a:prstGeom>
          <a:solidFill>
            <a:srgbClr val="B07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606040"/>
            <a:ext cx="4462272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600" b="1">
                <a:solidFill>
                  <a:srgbClr val="0B0B0B"/>
                </a:solidFill>
                <a:latin typeface="Segoe UI"/>
              </a:rPr>
              <a:t>40,3% × 50,2%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200400"/>
            <a:ext cx="44622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50" b="0">
                <a:solidFill>
                  <a:srgbClr val="52514E"/>
                </a:solidFill>
                <a:latin typeface="Segoe UI"/>
              </a:rPr>
              <a:t>Lula × Flávio Bolsonaro no restante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79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Cada círculo é um local de votação; o tamanho é o número de votos válidos.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VOTO EM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Só os locais alagados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Fontes: TSE, 1º turno de 2026; UFRGS/IPH, área diretamente afetada em 6 e 8/5/2024.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8</a:t>
            </a:r>
          </a:p>
        </p:txBody>
      </p:sp>
      <p:pic>
        <p:nvPicPr>
          <p:cNvPr id="6" name="Picture 5" descr="mapa_voto26_alag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575" y="1325880"/>
            <a:ext cx="6217920" cy="4983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55064"/>
            <a:ext cx="182880" cy="182880"/>
          </a:xfrm>
          <a:prstGeom prst="ellipse">
            <a:avLst/>
          </a:prstGeom>
          <a:solidFill>
            <a:srgbClr val="0A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63040"/>
            <a:ext cx="4462272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600" b="1">
                <a:solidFill>
                  <a:srgbClr val="0B0B0B"/>
                </a:solidFill>
                <a:latin typeface="Segoe UI"/>
              </a:rPr>
              <a:t>−6,7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57400"/>
            <a:ext cx="44622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50" b="0">
                <a:solidFill>
                  <a:srgbClr val="52514E"/>
                </a:solidFill>
                <a:latin typeface="Segoe UI"/>
              </a:rPr>
              <a:t>diferença Lula − Flávio Bolsonaro nos locais alagados (pontos)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98064"/>
            <a:ext cx="182880" cy="182880"/>
          </a:xfrm>
          <a:prstGeom prst="ellipse">
            <a:avLst/>
          </a:prstGeom>
          <a:solidFill>
            <a:srgbClr val="B07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606040"/>
            <a:ext cx="4462272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600" b="1">
                <a:solidFill>
                  <a:srgbClr val="0B0B0B"/>
                </a:solidFill>
                <a:latin typeface="Segoe UI"/>
              </a:rPr>
              <a:t>−9,9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200400"/>
            <a:ext cx="44622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50" b="0">
                <a:solidFill>
                  <a:srgbClr val="52514E"/>
                </a:solidFill>
                <a:latin typeface="Segoe UI"/>
              </a:rPr>
              <a:t>no restante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79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Mesmo mapa, pintando só os locais cujo ponto fica dentro da área alagada. Os outros aparecem em contorno cinza.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Os locais alagados se concentram em Canoas, Porto Alegre, São Leopoldo, Eldorado do Sul e Guaíba.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VOTO EM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Locais alagados × restante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Fontes: TSE, 1º turno de 2022 e de 2026 (cada seção comparada com ela mesma); UFRGS/IPH, área diretamente afetada em 6 e 8/5/2024.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9</a:t>
            </a:r>
          </a:p>
        </p:txBody>
      </p:sp>
      <p:pic>
        <p:nvPicPr>
          <p:cNvPr id="6" name="Picture 5" descr="graf_v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375" y="1897379"/>
            <a:ext cx="667512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508760"/>
            <a:ext cx="405353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% dos votos válidos. Em cinza, os outros candidatos somados.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500" b="0">
                <a:solidFill>
                  <a:srgbClr val="0B0B0B"/>
                </a:solidFill>
                <a:latin typeface="Segoe UI"/>
              </a:rPr>
              <a:t>Os locais alagados votaram um pouco mais em Lula. Mas nos mesmos lugares, em 2022, a diferença já existia: Lula − Jair Bolsonaro ficou em +1,9 nos alagados e −2,0 no restante.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788920"/>
            <a:ext cx="914400" cy="64008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8000" b="1">
                <a:solidFill>
                  <a:srgbClr val="0B0B0B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4000" b="1">
                <a:solidFill>
                  <a:srgbClr val="0B0B0B"/>
                </a:solidFill>
                <a:latin typeface="Segoe UI"/>
              </a:rPr>
              <a:t>Mudança no voto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9144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800" b="0">
                <a:solidFill>
                  <a:srgbClr val="52514E"/>
                </a:solidFill>
                <a:latin typeface="Segoe UI"/>
              </a:rPr>
              <a:t>O que mudou de 2022 para 2026 nos mesmos lugares, dentro e fora da área alagada, e como era em 2018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MUDANÇA NO VOTO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2022 e 2026 nos mesmos lugares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Fontes: TSE, 1º turno de 2022 e de 2026 (cada seção comparada com ela mesma); UFRGS/IPH, área diretamente afetada em 6 e 8/5/2024.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400" b="0">
                <a:solidFill>
                  <a:srgbClr val="52514E"/>
                </a:solidFill>
                <a:latin typeface="Segoe UI"/>
              </a:rPr>
              <a:t>Em 2022, cada seção eleitoral aparece no local onde votou em 2026. O candidato do PL foi Jair Bolsonaro em 2022 e Flávio Bolsonaro em 2026.</a:t>
            </a:r>
          </a:p>
        </p:txBody>
      </p:sp>
      <p:pic>
        <p:nvPicPr>
          <p:cNvPr id="7" name="Picture 6" descr="mapa_2022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386" y="1874519"/>
            <a:ext cx="10758922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MUDANÇA NO VOTO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Mudança na diferença PT − 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Fontes: TSE, 1º turno de 2022 e de 2026 (cada seção comparada com ela mesma); UFRGS/IPH, área diretamente afetada em 6 e 8/5/2024.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12</a:t>
            </a:r>
          </a:p>
        </p:txBody>
      </p:sp>
      <p:pic>
        <p:nvPicPr>
          <p:cNvPr id="6" name="Picture 5" descr="mapa_mud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575" y="1325880"/>
            <a:ext cx="6217920" cy="4983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55064"/>
            <a:ext cx="182880" cy="182880"/>
          </a:xfrm>
          <a:prstGeom prst="ellipse">
            <a:avLst/>
          </a:prstGeom>
          <a:solidFill>
            <a:srgbClr val="0A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63040"/>
            <a:ext cx="4462272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600" b="1">
                <a:solidFill>
                  <a:srgbClr val="0B0B0B"/>
                </a:solidFill>
                <a:latin typeface="Segoe UI"/>
              </a:rPr>
              <a:t>−8,6 pontos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57400"/>
            <a:ext cx="44622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50" b="0">
                <a:solidFill>
                  <a:srgbClr val="52514E"/>
                </a:solidFill>
                <a:latin typeface="Segoe UI"/>
              </a:rPr>
              <a:t>nos locais alagados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98064"/>
            <a:ext cx="182880" cy="182880"/>
          </a:xfrm>
          <a:prstGeom prst="ellipse">
            <a:avLst/>
          </a:prstGeom>
          <a:solidFill>
            <a:srgbClr val="B07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606040"/>
            <a:ext cx="4462272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600" b="1">
                <a:solidFill>
                  <a:srgbClr val="0B0B0B"/>
                </a:solidFill>
                <a:latin typeface="Segoe UI"/>
              </a:rPr>
              <a:t>−7,9 pontos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200400"/>
            <a:ext cx="44622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50" b="0">
                <a:solidFill>
                  <a:srgbClr val="52514E"/>
                </a:solidFill>
                <a:latin typeface="Segoe UI"/>
              </a:rPr>
              <a:t>no restante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79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Quase todos os locais andaram para o PL, dentro e fora da área alagada.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MUDANÇA NO VOTO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Mudança: só os locais alagados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Fontes: TSE, 1º turno de 2022 e de 2026 (cada seção comparada com ela mesma); UFRGS/IPH, área diretamente afetada em 6 e 8/5/2024.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13</a:t>
            </a:r>
          </a:p>
        </p:txBody>
      </p:sp>
      <p:pic>
        <p:nvPicPr>
          <p:cNvPr id="6" name="Picture 5" descr="mapa_mudanca_alag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575" y="1325880"/>
            <a:ext cx="6217920" cy="4983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463040"/>
            <a:ext cx="475488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600" b="1">
                <a:solidFill>
                  <a:srgbClr val="0B0B0B"/>
                </a:solidFill>
                <a:latin typeface="Segoe UI"/>
              </a:rPr>
              <a:t>−0,8 ponto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50" b="0">
                <a:solidFill>
                  <a:srgbClr val="52514E"/>
                </a:solidFill>
                <a:latin typeface="Segoe UI"/>
              </a:rPr>
              <a:t>diferença entre a mudança nos alagados e no restante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4846320" cy="3611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Mesma mudança, pintando só os locais dentro da área alagada.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MUDANÇA NO VOTO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As duas linhas andaram juntas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Fontes: TSE, 1º turno de 2022 e de 2026 (cada seção comparada com ela mesma); UFRGS/IPH, área diretamente afetada em 6 e 8/5/2024.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14</a:t>
            </a:r>
          </a:p>
        </p:txBody>
      </p:sp>
      <p:pic>
        <p:nvPicPr>
          <p:cNvPr id="6" name="Picture 5" descr="graf_inclin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375" y="1371600"/>
            <a:ext cx="667512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508760"/>
            <a:ext cx="405353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Diferença PT − PL, em pontos percentuais dos votos válidos.</a:t>
            </a:r>
          </a:p>
          <a:p>
            <a:pPr>
              <a:lnSpc>
                <a:spcPct val="125000"/>
              </a:lnSpc>
              <a:spcBef>
                <a:spcPts val="1600"/>
              </a:spcBef>
            </a:pPr>
            <a:r>
              <a:rPr sz="1500" b="1">
                <a:solidFill>
                  <a:srgbClr val="0B0B0B"/>
                </a:solidFill>
                <a:latin typeface="Segoe UI"/>
              </a:rPr>
              <a:t>Lula (PT): </a:t>
            </a:r>
            <a:r>
              <a:rPr sz="1500" b="0">
                <a:solidFill>
                  <a:srgbClr val="0B0B0B"/>
                </a:solidFill>
                <a:latin typeface="Segoe UI"/>
              </a:rPr>
              <a:t>46,2% → 42,0% nos alagados, 44,1% → 40,3% no restante.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500" b="1">
                <a:solidFill>
                  <a:srgbClr val="0B0B0B"/>
                </a:solidFill>
                <a:latin typeface="Segoe UI"/>
              </a:rPr>
              <a:t>PL (Jair → Flávio Bolsonaro): </a:t>
            </a:r>
            <a:r>
              <a:rPr sz="1500" b="0">
                <a:solidFill>
                  <a:srgbClr val="0B0B0B"/>
                </a:solidFill>
                <a:latin typeface="Segoe UI"/>
              </a:rPr>
              <a:t>44,3% → 48,7% nos alagados, 46,1% → 50,2% no restante.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MUDANÇA NO VOTO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E antes da enchente? 2018, 2022 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Fontes: TSE, 1º turno de 2018, 2022 e 2026 (cada seção comparada com ela mesma); UFRGS/IPH, área diretamente afetada em 6 e 8/5/2024.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15</a:t>
            </a:r>
          </a:p>
        </p:txBody>
      </p:sp>
      <p:pic>
        <p:nvPicPr>
          <p:cNvPr id="6" name="Picture 5" descr="graf_tres_eleic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375" y="1371600"/>
            <a:ext cx="667512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508760"/>
            <a:ext cx="405353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Diferença PT − PSL/PL nas seções que existem nas três eleições. Em 2018, a disputa foi Fernando Haddad (PT) × Jair Bolsonaro (PSL).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500" b="0">
                <a:solidFill>
                  <a:srgbClr val="0B0B0B"/>
                </a:solidFill>
                <a:latin typeface="Segoe UI"/>
              </a:rPr>
              <a:t>A distância entre os locais alagados e o restante ficou entre +2,9 e +3,8 pontos nas três eleições, antes e depois da enchente.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300" b="0">
                <a:solidFill>
                  <a:srgbClr val="52514E"/>
                </a:solidFill>
                <a:latin typeface="Segoe UI"/>
              </a:rPr>
              <a:t>O cenário político muda de uma eleição para outra: candidatos, partidos e alianças não são os mesmos. Por isso a altura das linhas não se compara de um ano para outro; o que se compara é a distância entre elas.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MUDANÇA NO VOTO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Com outras definições de área alagada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Fontes: TSE, 1º turno de 2022 e de 2026 (cada seção comparada com ela mesma); UFRGS/IPH, área diretamente afetada em 6 e 8/5/2024; Governo do RS/SPGG, área inundada em 23/5/2024; IBGE, Censo 2022.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16</a:t>
            </a:r>
          </a:p>
        </p:txBody>
      </p:sp>
      <p:pic>
        <p:nvPicPr>
          <p:cNvPr id="6" name="Picture 5" descr="graf_crite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375" y="1371600"/>
            <a:ext cx="667512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508760"/>
            <a:ext cx="405353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Mudança na diferença PT − PL, em pontos, com seis jeitos de definir "local alagado".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500" b="0">
                <a:solidFill>
                  <a:srgbClr val="0B0B0B"/>
                </a:solidFill>
                <a:latin typeface="Segoe UI"/>
              </a:rPr>
              <a:t>A diferença entre alagados e restante fica entre −0,8 e +1,1 ponto: o resultado não depende da mancha escolhida.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MUDANÇA NO VOTO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Dentro de cada cidade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Fontes: TSE, 1º turno de 2022 e de 2026 (cada seção comparada com ela mesma); UFRGS/IPH, área diretamente afetada em 6 e 8/5/2024.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17</a:t>
            </a:r>
          </a:p>
        </p:txBody>
      </p:sp>
      <p:pic>
        <p:nvPicPr>
          <p:cNvPr id="6" name="Picture 5" descr="graf_cid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375" y="1257300"/>
            <a:ext cx="667512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508760"/>
            <a:ext cx="405353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Mudança na diferença PT − PL, em pontos. Cidades com 5.000 ou mais eleitores em locais alagados.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500" b="0">
                <a:solidFill>
                  <a:srgbClr val="0B0B0B"/>
                </a:solidFill>
                <a:latin typeface="Segoe UI"/>
              </a:rPr>
              <a:t>Em 5 das 10 cidades, os locais alagados andaram mais para o PL que o resto da cidade; nas outras 5, menos. Não há um padrão.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18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788920"/>
            <a:ext cx="914400" cy="64008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8000" b="1">
                <a:solidFill>
                  <a:srgbClr val="0B0B0B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4000" b="1">
                <a:solidFill>
                  <a:srgbClr val="0B0B0B"/>
                </a:solidFill>
                <a:latin typeface="Segoe UI"/>
              </a:rPr>
              <a:t>Eleitorado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9144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800" b="0">
                <a:solidFill>
                  <a:srgbClr val="52514E"/>
                </a:solidFill>
                <a:latin typeface="Segoe UI"/>
              </a:rPr>
              <a:t>Eleitores aptos, abstenção, brancos e nulos: o que mudou mais nos locais alagados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ELEITORADO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Eleitores aptos e comparecimento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Fontes: TSE, 1º turno de 2022 e de 2026 (cada seção comparada com ela mesma); UFRGS/IPH, área diretamente afetada em 6 e 8/5/2024.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19</a:t>
            </a:r>
          </a:p>
        </p:txBody>
      </p:sp>
      <p:pic>
        <p:nvPicPr>
          <p:cNvPr id="6" name="Picture 5" descr="graf_eleitor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375" y="1371600"/>
            <a:ext cx="667512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508760"/>
            <a:ext cx="405353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Só seções que existem nas duas eleições.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500" b="0">
                <a:solidFill>
                  <a:srgbClr val="0B0B0B"/>
                </a:solidFill>
                <a:latin typeface="Segoe UI"/>
              </a:rPr>
              <a:t>Os locais alagados perderam 4,7% dos eleitores aptos; o restante, 2,9%. A abstenção subiu 2,5 pontos nos alagados e 1,7 no restante.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ELEITORADO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Eleitores antes e depois da enchente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Fontes: TSE, 1º turno de 2018, 2022 e 2026 (cada seção comparada com ela mesma); UFRGS/IPH, área diretamente afetada em 6 e 8/5/2024.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20</a:t>
            </a:r>
          </a:p>
        </p:txBody>
      </p:sp>
      <p:pic>
        <p:nvPicPr>
          <p:cNvPr id="6" name="Picture 5" descr="graf_antes_depo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375" y="1371600"/>
            <a:ext cx="667512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508760"/>
            <a:ext cx="405353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Seções que existem em 2018, 2022 e 2026.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500" b="0">
                <a:solidFill>
                  <a:srgbClr val="0B0B0B"/>
                </a:solidFill>
                <a:latin typeface="Segoe UI"/>
              </a:rPr>
              <a:t>De 2018 para 2022, os dois grupos ganharam eleitores no mesmo ritmo (+0,9% e +0,8%), e a abstenção subiu praticamente o mesmo.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500" b="0">
                <a:solidFill>
                  <a:srgbClr val="0B0B0B"/>
                </a:solidFill>
                <a:latin typeface="Segoe UI"/>
              </a:rPr>
              <a:t>De 2022 para 2026, os locais alagados perderam 4,8% dos eleitores, contra 3,2% no restante.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300" b="0">
                <a:solidFill>
                  <a:srgbClr val="52514E"/>
                </a:solidFill>
                <a:latin typeface="Segoe UI"/>
              </a:rPr>
              <a:t>Dentro de cada cidade, a perda a mais de eleitores nos locais alagados cresceu depois da enchente em 7 das 10 cidades. Em Canoas, a com mais eleitores em locais alagados, eles já cresciam 2,3 pontos menos que o resto da cidade de 2018 para 2022, e a distância ficou igual depois; em Guaíba e Charqueadas, diminuiu.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ELEITORADO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De onde vêm os votos válidos a menos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Fontes: TSE, 1º turno de 2022 e de 2026 (cada seção comparada com ela mesma); UFRGS/IPH, área diretamente afetada em 6 e 8/5/2024.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21</a:t>
            </a:r>
          </a:p>
        </p:txBody>
      </p:sp>
      <p:pic>
        <p:nvPicPr>
          <p:cNvPr id="6" name="Picture 5" descr="graf_de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375" y="1714500"/>
            <a:ext cx="6675120" cy="42016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508760"/>
            <a:ext cx="405353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Votos válidos das mesmas seções: −8,3% nos alagados e −5,5% no restante.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500" b="0">
                <a:solidFill>
                  <a:srgbClr val="0B0B0B"/>
                </a:solidFill>
                <a:latin typeface="Segoe UI"/>
              </a:rPr>
              <a:t>Da perda a mais nos alagados, cerca de 61% vem da queda de eleitores aptos e 36% da abstenção. Brancos e nulos subiram igual nos dois grupos (brancos +0,4 e +0,4 ponto).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300" b="0">
                <a:solidFill>
                  <a:srgbClr val="52514E"/>
                </a:solidFill>
                <a:latin typeface="Segoe UI"/>
              </a:rPr>
              <a:t>Os dados não separam as causas: mudança de endereço, mortes, novos eleitores, remanejamento de seções.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ELEITORADO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Eleitores aptos em cada cidade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Fontes: TSE, 1º turno de 2022 e de 2026 (cada seção comparada com ela mesma); UFRGS/IPH, área diretamente afetada em 6 e 8/5/2024.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22</a:t>
            </a:r>
          </a:p>
        </p:txBody>
      </p:sp>
      <p:pic>
        <p:nvPicPr>
          <p:cNvPr id="6" name="Picture 5" descr="graf_aptos_cid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375" y="1257300"/>
            <a:ext cx="667512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508760"/>
            <a:ext cx="405353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Variação de 2022 para 2026, em %, nos locais alagados e no resto da mesma cidade.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500" b="0">
                <a:solidFill>
                  <a:srgbClr val="0B0B0B"/>
                </a:solidFill>
                <a:latin typeface="Segoe UI"/>
              </a:rPr>
              <a:t>Em 9 das 10 cidades, os locais alagados perderam mais eleitores (ou ganharam menos) que o resto da cidade.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ELEITORADO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Seções de locais alagados que mudaram de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Fontes: TSE, 1º turno de 2022 e de 2026 (cada seção comparada com ela mesma); UFRGS/IPH, área diretamente afetada em 6 e 8/5/2024.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400" b="0">
                <a:solidFill>
                  <a:srgbClr val="52514E"/>
                </a:solidFill>
                <a:latin typeface="Segoe UI"/>
              </a:rPr>
              <a:t>Seções que em 2022 votavam num local dentro da área alagada e em 2026 votaram em outro, a mais de 250 m. — = local de 2026 sem coordenada no TSE.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0451591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3017520"/>
                <a:gridCol w="822960"/>
                <a:gridCol w="1005840"/>
                <a:gridCol w="1033271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514E"/>
                          </a:solidFill>
                          <a:latin typeface="Segoe UI"/>
                        </a:rPr>
                        <a:t>Cidade</a:t>
                      </a:r>
                    </a:p>
                  </a:txBody>
                  <a:tcPr marT="27432" marB="27432" anchor="ctr">
                    <a:solidFill>
                      <a:srgbClr val="EF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514E"/>
                          </a:solidFill>
                          <a:latin typeface="Segoe UI"/>
                        </a:rPr>
                        <a:t>Local em 2022</a:t>
                      </a:r>
                    </a:p>
                  </a:txBody>
                  <a:tcPr marT="27432" marB="27432" anchor="ctr">
                    <a:solidFill>
                      <a:srgbClr val="EF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514E"/>
                          </a:solidFill>
                          <a:latin typeface="Segoe UI"/>
                        </a:rPr>
                        <a:t>Local em 2026</a:t>
                      </a:r>
                    </a:p>
                  </a:txBody>
                  <a:tcPr marT="27432" marB="27432" anchor="ctr">
                    <a:solidFill>
                      <a:srgbClr val="EF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52514E"/>
                          </a:solidFill>
                          <a:latin typeface="Segoe UI"/>
                        </a:rPr>
                        <a:t>Seções</a:t>
                      </a:r>
                    </a:p>
                  </a:txBody>
                  <a:tcPr marT="27432" marB="27432" anchor="ctr">
                    <a:solidFill>
                      <a:srgbClr val="EF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52514E"/>
                          </a:solidFill>
                          <a:latin typeface="Segoe UI"/>
                        </a:rPr>
                        <a:t>Eleitores</a:t>
                      </a:r>
                    </a:p>
                  </a:txBody>
                  <a:tcPr marT="27432" marB="27432" anchor="ctr">
                    <a:solidFill>
                      <a:srgbClr val="EF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52514E"/>
                          </a:solidFill>
                          <a:latin typeface="Segoe UI"/>
                        </a:rPr>
                        <a:t>Distância</a:t>
                      </a:r>
                    </a:p>
                  </a:txBody>
                  <a:tcPr marT="27432" marB="27432" anchor="ctr">
                    <a:solidFill>
                      <a:srgbClr val="EFED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Porto Alegre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Foro Trabalhista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E. E. Presidente Roosevelt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5.976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384 m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Canoas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E. E. Tereza Francescutti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Associação Pestalozzi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4.672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3,5 km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Porto Alegre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E. E. Marechal Floriano Peixoto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UFCSPA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3.057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Novo Hamburgo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Centro Social Madre Regina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E. E. Ayrton Senna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2.971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Canoas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Colégio Ulbra São João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E. M. João Palma da Silva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2.226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299 m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Eldorado do Sul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E. M. David Riegel Neto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E. M. Getúlio Vargas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1.945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1,7 km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São Jerônimo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E. E. Castro Alves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E. M. Padre Luiz de Nadal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1.429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617 m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Guaíba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E. E. Albino Hackmann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E. M. Rio Grande do Sul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1.127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591 m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Guaíba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SAFE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E. M. Rio Grande do Sul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883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1,1 km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Porto Alegre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E. E. Oscar Schmitt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Inst. Anjo das Flores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797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27432" marB="27432" anchor="ctr">
                    <a:solidFill>
                      <a:srgbClr val="F6F5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70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25.083</a:t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24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788920"/>
            <a:ext cx="914400" cy="64008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8000" b="1">
                <a:solidFill>
                  <a:srgbClr val="0B0B0B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4000" b="1">
                <a:solidFill>
                  <a:srgbClr val="0B0B0B"/>
                </a:solidFill>
                <a:latin typeface="Segoe UI"/>
              </a:rPr>
              <a:t>Porto Alegre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9144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800" b="0">
                <a:solidFill>
                  <a:srgbClr val="52514E"/>
                </a:solidFill>
                <a:latin typeface="Segoe UI"/>
              </a:rPr>
              <a:t>A capital, onde a mancha de satélite subestima a água no Centro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PORTO ALEGRE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Porto Alegre: voto em 2026 com duas manchas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Fontes: TSE, 1º turno de 2026; UFRGS/IPH, área diretamente afetada em 6 e 8/5/2024 e simulação hidrostática do Guaíba a 5,30 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400" b="0">
                <a:solidFill>
                  <a:srgbClr val="52514E"/>
                </a:solidFill>
                <a:latin typeface="Segoe UI"/>
              </a:rPr>
              <a:t>Locais alagados pela mancha de satélite (46): Lula 48,4% × Flávio Bolsonaro 42,6%. Pela simulação de 5,30 m (60): 48,5% × 42,4%. Restante: 48,6% × 41,8%.</a:t>
            </a:r>
          </a:p>
        </p:txBody>
      </p:sp>
      <p:pic>
        <p:nvPicPr>
          <p:cNvPr id="7" name="Picture 6" descr="mapa_poa_v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386" y="1874519"/>
            <a:ext cx="10758922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PORTO ALEGRE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Porto Alegre: mudança de 2022 para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Fontes: TSE, 1º turno de 2022 e de 2026 (cada seção comparada com ela mesma); UFRGS/IPH, área diretamente afetada em 6 e 8/5/2024.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26</a:t>
            </a:r>
          </a:p>
        </p:txBody>
      </p:sp>
      <p:pic>
        <p:nvPicPr>
          <p:cNvPr id="6" name="Picture 5" descr="mapa_poa_mud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575" y="1325880"/>
            <a:ext cx="6217920" cy="4983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55064"/>
            <a:ext cx="182880" cy="182880"/>
          </a:xfrm>
          <a:prstGeom prst="ellipse">
            <a:avLst/>
          </a:prstGeom>
          <a:solidFill>
            <a:srgbClr val="0A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63040"/>
            <a:ext cx="4462272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600" b="1">
                <a:solidFill>
                  <a:srgbClr val="0B0B0B"/>
                </a:solidFill>
                <a:latin typeface="Segoe UI"/>
              </a:rPr>
              <a:t>−3,3 pontos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57400"/>
            <a:ext cx="44622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50" b="0">
                <a:solidFill>
                  <a:srgbClr val="52514E"/>
                </a:solidFill>
                <a:latin typeface="Segoe UI"/>
              </a:rPr>
              <a:t>nos locais alagados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98064"/>
            <a:ext cx="182880" cy="182880"/>
          </a:xfrm>
          <a:prstGeom prst="ellipse">
            <a:avLst/>
          </a:prstGeom>
          <a:solidFill>
            <a:srgbClr val="B07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606040"/>
            <a:ext cx="4462272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600" b="1">
                <a:solidFill>
                  <a:srgbClr val="0B0B0B"/>
                </a:solidFill>
                <a:latin typeface="Segoe UI"/>
              </a:rPr>
              <a:t>−4,1 pontos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200400"/>
            <a:ext cx="44622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50" b="0">
                <a:solidFill>
                  <a:srgbClr val="52514E"/>
                </a:solidFill>
                <a:latin typeface="Segoe UI"/>
              </a:rPr>
              <a:t>no restante da cidade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79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No Centro Histórico, na Cidade Baixa e no Menino Deus, vários locais andaram para o PT.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0B0B0B"/>
                </a:solidFill>
                <a:latin typeface="Segoe UI"/>
              </a:rPr>
              <a:t>Eleitores aptos: −7,0% nos alagados e −4,5% no restante. Abstenção: +1,1 e +1,4 ponto.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FECHAMENTO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Quanto pode ser acaso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Fontes: TSE, 1º turno de 2018, 2022 e 2026 (cada seção comparada com ela mesma); UFRGS/IPH, área diretamente afetada em 6 e 8/5/2024; intervalo de 95% por reamostragem das 57 zonas eleitorais (2.000 sorteios).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27</a:t>
            </a:r>
          </a:p>
        </p:txBody>
      </p:sp>
      <p:pic>
        <p:nvPicPr>
          <p:cNvPr id="6" name="Picture 5" descr="graf_incerte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375" y="1371600"/>
            <a:ext cx="667512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508760"/>
            <a:ext cx="405353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350" b="0">
                <a:solidFill>
                  <a:srgbClr val="52514E"/>
                </a:solidFill>
                <a:latin typeface="Segoe UI"/>
              </a:rPr>
              <a:t>Diferença entre a mudança nos locais alagados e no restante, com o intervalo de 95%: a faixa onde a diferença cai quando as zonas eleitorais são sorteadas de novo. Se a faixa cruza o zero, pode ser acaso.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500" b="1">
                <a:solidFill>
                  <a:srgbClr val="0B0B0B"/>
                </a:solidFill>
                <a:latin typeface="Segoe UI"/>
              </a:rPr>
              <a:t>Voto: </a:t>
            </a:r>
            <a:r>
              <a:rPr sz="1500" b="0">
                <a:solidFill>
                  <a:srgbClr val="0B0B0B"/>
                </a:solidFill>
                <a:latin typeface="Segoe UI"/>
              </a:rPr>
              <a:t>−0,8 ponto, de −2,4 a +1,5; dentro da margem de acaso.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500" b="1">
                <a:solidFill>
                  <a:srgbClr val="0B0B0B"/>
                </a:solidFill>
                <a:latin typeface="Segoe UI"/>
              </a:rPr>
              <a:t>Eleitores aptos: </a:t>
            </a:r>
            <a:r>
              <a:rPr sz="1500" b="0">
                <a:solidFill>
                  <a:srgbClr val="0B0B0B"/>
                </a:solidFill>
                <a:latin typeface="Segoe UI"/>
              </a:rPr>
              <a:t>−1,8%, de −2,9% a −0,8%; maior que a margem de acaso.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500" b="1">
                <a:solidFill>
                  <a:srgbClr val="0B0B0B"/>
                </a:solidFill>
                <a:latin typeface="Segoe UI"/>
              </a:rPr>
              <a:t>Abstenção: </a:t>
            </a:r>
            <a:r>
              <a:rPr sz="1500" b="0">
                <a:solidFill>
                  <a:srgbClr val="0B0B0B"/>
                </a:solidFill>
                <a:latin typeface="Segoe UI"/>
              </a:rPr>
              <a:t>+0,8 ponto, de −0,4 a +1,8; dentro da margem de acaso.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350" b="0">
                <a:solidFill>
                  <a:srgbClr val="52514E"/>
                </a:solidFill>
                <a:latin typeface="Segoe UI"/>
              </a:rPr>
              <a:t>Antes da enchente (2018 → 2022), as três diferenças ficam dentro da margem.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FECHAMENTO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O que os dados mostram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A8880"/>
                </a:solidFill>
                <a:latin typeface="Segoe UI"/>
              </a:rPr>
              <a:t>Fontes: TSE, 1º turno de 2018, 2022 e 2026 (cada seção comparada com ela mesma); UFRGS/IPH, área diretamente afetada em 6 e 8/5/2024.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800" b="0">
                <a:solidFill>
                  <a:srgbClr val="0B0B0B"/>
                </a:solidFill>
                <a:latin typeface="Segoe UI"/>
              </a:rPr>
              <a:t>Em 2026, os locais alagados votaram um pouco mais em Lula que o restante: diferença Lula − Flávio Bolsonaro de −6,7 contra −9,9 pontos.</a:t>
            </a:r>
          </a:p>
          <a:p>
            <a:pPr>
              <a:lnSpc>
                <a:spcPct val="120000"/>
              </a:lnSpc>
              <a:spcBef>
                <a:spcPts val="1600"/>
              </a:spcBef>
            </a:pPr>
            <a:r>
              <a:rPr sz="1800" b="0">
                <a:solidFill>
                  <a:srgbClr val="0B0B0B"/>
                </a:solidFill>
                <a:latin typeface="Segoe UI"/>
              </a:rPr>
              <a:t>A distância entre os grupos já existia em 2022 e em 2018 (entre +2,9 e +3,8 pontos). De 2022 para 2026, os dois grupos andaram quase o mesmo para o PL (−8,6 e −7,9 pontos), com qualquer definição de área alagada e sem padrão entre as cidades: a diferença, −0,8 ponto, fica dentro da margem de acaso.</a:t>
            </a:r>
          </a:p>
          <a:p>
            <a:pPr>
              <a:lnSpc>
                <a:spcPct val="120000"/>
              </a:lnSpc>
              <a:spcBef>
                <a:spcPts val="1600"/>
              </a:spcBef>
            </a:pPr>
            <a:r>
              <a:rPr sz="1800" b="0">
                <a:solidFill>
                  <a:srgbClr val="0B0B0B"/>
                </a:solidFill>
                <a:latin typeface="Segoe UI"/>
              </a:rPr>
              <a:t>O que mudou mais nos locais alagados foi o eleitorado: −4,7% de eleitores aptos (contra −2,9%, maior que a margem de acaso) e +2,5 pontos de abstenção (contra +1,7, dentro da margem de acaso). No conjunto, de 2018 para 2022, antes da enchente, os dois grupos andavam juntos; em Canoas, os alagados já cresciam menos.</a:t>
            </a:r>
          </a:p>
          <a:p>
            <a:pPr>
              <a:lnSpc>
                <a:spcPct val="120000"/>
              </a:lnSpc>
              <a:spcBef>
                <a:spcPts val="1600"/>
              </a:spcBef>
            </a:pPr>
            <a:r>
              <a:rPr sz="1800" b="0">
                <a:solidFill>
                  <a:srgbClr val="0B0B0B"/>
                </a:solidFill>
                <a:latin typeface="Segoe UI"/>
              </a:rPr>
              <a:t>Brancos e nulos subiram igual nos dois grupos.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52514E"/>
                </a:solidFill>
                <a:latin typeface="Segoe UI"/>
              </a:rPr>
              <a:t>FECHAMENTO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0B0B0B"/>
                </a:solidFill>
                <a:latin typeface="Segoe UI"/>
              </a:rPr>
              <a:t>Limites e fontes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Matheus Dalmolin ·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4864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52514E"/>
                </a:solidFill>
                <a:latin typeface="Segoe UI"/>
              </a:rPr>
              <a:t>Limites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300" b="0">
                <a:solidFill>
                  <a:srgbClr val="0B0B0B"/>
                </a:solidFill>
                <a:latin typeface="Segoe UI"/>
              </a:rPr>
              <a:t>A unidade é o local de votação, não a casa do eleitor: o TSE não diz onde cada um mora.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00" b="0">
                <a:solidFill>
                  <a:srgbClr val="0B0B0B"/>
                </a:solidFill>
                <a:latin typeface="Segoe UI"/>
              </a:rPr>
              <a:t>A mancha de satélite subestima a água entre prédios; o resultado foi refeito com outras manchas, com folga de 500 m e com peso pela população.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00" b="0">
                <a:solidFill>
                  <a:srgbClr val="0B0B0B"/>
                </a:solidFill>
                <a:latin typeface="Segoe UI"/>
              </a:rPr>
              <a:t>Os candidatos e o cenário político mudam de uma eleição para outra (Haddad e Lula pelo PT; Jair Bolsonaro pelo PSL e pelo PL; Flávio Bolsonaro pelo PL): o que se compara é a distância entre os grupos, não o nível de cada ano.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00" b="0">
                <a:solidFill>
                  <a:srgbClr val="0B0B0B"/>
                </a:solidFill>
                <a:latin typeface="Segoe UI"/>
              </a:rPr>
              <a:t>8 locais sem coordenada no TSE ficaram fora dos mapas de 2026 (0,5% dos votos válidos).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00" b="0">
                <a:solidFill>
                  <a:srgbClr val="0B0B0B"/>
                </a:solidFill>
                <a:latin typeface="Segoe UI"/>
              </a:rPr>
              <a:t>O intervalo de 95% mede só o acaso de quais locais e zonas existem; não cobre erros da mancha nem outras diferenças entre as áreas.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00" b="0">
                <a:solidFill>
                  <a:srgbClr val="0B0B0B"/>
                </a:solidFill>
                <a:latin typeface="Segoe UI"/>
              </a:rPr>
              <a:t>Comparação descritiva: não mede o efeito da enchente sobre o voto.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08760"/>
            <a:ext cx="530352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52514E"/>
                </a:solidFill>
                <a:latin typeface="Segoe UI"/>
              </a:rPr>
              <a:t>Fontes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300" b="0">
                <a:solidFill>
                  <a:srgbClr val="0B0B0B"/>
                </a:solidFill>
                <a:latin typeface="Segoe UI"/>
              </a:rPr>
              <a:t>TSE: votação por seção e eleitorado por local de votação, 1º turno de 2018, 2022 e 2026.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00" b="0">
                <a:solidFill>
                  <a:srgbClr val="0B0B0B"/>
                </a:solidFill>
                <a:latin typeface="Segoe UI"/>
              </a:rPr>
              <a:t>UFRGS/IPH, Possantti et al.: Banco de dados das cheias da RH do Guaíba v1.4, área diretamente afetada em 6 e 8/5/2024 e simulação do Guaíba a 5,30 m (CC BY 4.0).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00" b="0">
                <a:solidFill>
                  <a:srgbClr val="0B0B0B"/>
                </a:solidFill>
                <a:latin typeface="Segoe UI"/>
              </a:rPr>
              <a:t>Governo do RS/SPGG: área inundada em 23/5/2024 (checagem).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00" b="0">
                <a:solidFill>
                  <a:srgbClr val="0B0B0B"/>
                </a:solidFill>
                <a:latin typeface="Segoe UI"/>
              </a:rPr>
              <a:t>IBGE: malha municipal 2025 e setores do Censo 2022.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00" b="0">
                <a:solidFill>
                  <a:srgbClr val="0B0B0B"/>
                </a:solidFill>
                <a:latin typeface="Segoe UI"/>
              </a:rPr>
              <a:t>SEMA-RS: base cartográfica 1:25.000.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